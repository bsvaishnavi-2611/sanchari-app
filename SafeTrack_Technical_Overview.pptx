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EE7F9">
              <a:alpha val="12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·  INTERNAL TECHNICAL WHITEPAPER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micro-group safety, location, and escalation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 · Web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20440" y="38404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4251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 · RN 0.81.5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8404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4251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(Foundation Release)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98280" y="38404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81160" y="4251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Node 24  ·  pnpm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486400"/>
            <a:ext cx="1072591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577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SafeTrack Technical Overview
</a:t>
            </a:r>
            <a:pPr indent="0" marL="0">
              <a:buNone/>
            </a:pPr>
            <a:r>
              <a:rPr lang="en-US" sz="1000" b="1" spc="4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Engineering · Mobile Platforms
</a:t>
            </a:r>
            <a:pPr indent="0" marL="0">
              <a:buNone/>
            </a:pPr>
            <a:r>
              <a:rPr lang="en-US" sz="1000" b="1" spc="4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2026.05 · Rev. 1.0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424160" y="60350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&amp; Design Philosophy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852160" cy="2194560"/>
          </a:xfrm>
          <a:prstGeom prst="roundRect">
            <a:avLst>
              <a:gd name="adj" fmla="val 4167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71907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MICRO-GROUP MODEL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97510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Circles ≤ 30 actors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2432304"/>
            <a:ext cx="548640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cohorts replace open social graphs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is a sealed cryptographic boundary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discovery, no public IDs, no inbound requests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852160" cy="2377440"/>
          </a:xfrm>
          <a:prstGeom prst="roundRect">
            <a:avLst>
              <a:gd name="adj" fmla="val 3846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73152" cy="2377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0507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CRYPTOGRAPHIC PIN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4306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group access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4764024"/>
            <a:ext cx="548640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issued and rotated by group owner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a salted server-side hash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with backoff + device fingerprint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only join vector — no usernames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guiding principles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1965960"/>
            <a:ext cx="4937760" cy="1325880"/>
          </a:xfrm>
          <a:prstGeom prst="roundRect">
            <a:avLst>
              <a:gd name="adj" fmla="val 6897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10312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635240" y="2148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35240" y="2606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one decision. State is always legible at a glance.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3429000"/>
            <a:ext cx="4937760" cy="1325880"/>
          </a:xfrm>
          <a:prstGeom prst="roundRect">
            <a:avLst>
              <a:gd name="adj" fmla="val 6897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56616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635240" y="3611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3524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storage and deterministic escalation logic.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4892040"/>
            <a:ext cx="4937760" cy="1325880"/>
          </a:xfrm>
          <a:prstGeom prst="roundRect">
            <a:avLst>
              <a:gd name="adj" fmla="val 6897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502920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7635240" y="5074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35240" y="5532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one-thumb operation under stress and motion.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 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closes the operational gap between consumer location apps and enterprise logistics suites.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41A36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Location 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542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FIND-MY-FAMILY CLASS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2880360"/>
            <a:ext cx="3200400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dot-on-map 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 logic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transit-window concept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Per-person, not per-group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0832" y="201168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B2147"/>
          </a:solidFill>
          <a:ln w="19050">
            <a:solidFill>
              <a:srgbClr val="6EE7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9432" y="2542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MICRO-GROUP SAFETY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99432" y="2880360"/>
            <a:ext cx="3200400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0175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3-level escalation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/ 10m polling on device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Group-bound cryptographic PIN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Offline-first, no server dependency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93024" y="201168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41A36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Logistics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21624" y="2542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/ DISPATCH SUITES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21624" y="2880360"/>
            <a:ext cx="3200400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7344" y="30175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Server-heavy, ops-team driven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onboarding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licensing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Overbuilt for ≤30-person groups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DEPLOYMENTS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Scenarios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73152" cy="2240280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7335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LOGISTICS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929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Field Logistics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2386584"/>
            <a:ext cx="51206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Multi-vehicle field teams with shared destinations, ETAs, and per-leg arrival confirmation.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150876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508760"/>
            <a:ext cx="73152" cy="2240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67335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55664" y="1929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Special-Needs Transit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2386584"/>
            <a:ext cx="51206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Caregiver-supervised routes with strict transit windows and automatic escalation to a guardian.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3192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09651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" y="43525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Audits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4809744"/>
            <a:ext cx="51206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Roving auditors checking sites on schedule; missed check-ins trigger structured alerts.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393192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3931920"/>
            <a:ext cx="73152" cy="2240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409651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55664" y="43525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Peace-of-Mind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55664" y="4809744"/>
            <a:ext cx="51206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commutes for children or elderly relatives, with private group of trusted contacts.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PRODUCT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Scope &amp; Boundaries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457200"/>
          </a:xfrm>
          <a:prstGeom prst="rect">
            <a:avLst/>
          </a:prstGeom>
          <a:solidFill>
            <a:srgbClr val="1B2147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1463040"/>
            <a:ext cx="3611880" cy="457200"/>
          </a:xfrm>
          <a:prstGeom prst="rect">
            <a:avLst/>
          </a:prstGeom>
          <a:solidFill>
            <a:srgbClr val="1B2147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· V1.0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3456432" cy="457200"/>
          </a:xfrm>
          <a:prstGeom prst="rect">
            <a:avLst/>
          </a:prstGeom>
          <a:solidFill>
            <a:srgbClr val="1B2147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463040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ROADMAP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920240"/>
            <a:ext cx="3886200" cy="713232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920240"/>
            <a:ext cx="3611880" cy="713232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920240"/>
            <a:ext cx="3456432" cy="713232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920240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PIN-based join, up to 30 actors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1920240"/>
            <a:ext cx="3182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Org-level hierarchies, SSO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33472"/>
            <a:ext cx="3886200" cy="713232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2633472"/>
            <a:ext cx="3611880" cy="713232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633472"/>
            <a:ext cx="3456432" cy="713232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63347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633472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5s / 10m on-device polling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2633472"/>
            <a:ext cx="3182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Background server-synced traces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46704"/>
            <a:ext cx="3886200" cy="713232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346704"/>
            <a:ext cx="3611880" cy="713232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3346704"/>
            <a:ext cx="3456432" cy="713232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346704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34670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3-level local escalation matrix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3346704"/>
            <a:ext cx="3182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Operator console + audit log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059936"/>
            <a:ext cx="3886200" cy="713232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4059936"/>
            <a:ext cx="3611880" cy="713232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059936"/>
            <a:ext cx="3456432" cy="713232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05993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9160" y="4059936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Async Storage, device-local only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059936"/>
            <a:ext cx="3182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Supabase sync + multi-device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773168"/>
            <a:ext cx="3886200" cy="713232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0" y="4773168"/>
            <a:ext cx="3611880" cy="713232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4773168"/>
            <a:ext cx="3456432" cy="713232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77316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09160" y="4773168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Embedded map view + destinations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0" y="4773168"/>
            <a:ext cx="3182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 geofences, route playback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486400"/>
            <a:ext cx="3886200" cy="713232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5486400"/>
            <a:ext cx="3611880" cy="713232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5486400"/>
            <a:ext cx="3456432" cy="713232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5486400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09160" y="548640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Deterministic rules only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412480" y="5486400"/>
            <a:ext cx="3182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route deviation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LTS tooling baseline with modern V8 + ESM defaults.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55448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MGR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99432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606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Content-addressable store; deterministic, fast installs.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93024" y="155448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SDK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21624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21624" y="2606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native modules, EAS Build, OTA update channel.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0.81.5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Architecture-ready (Fabric + TurboModules).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7490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99432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99432" y="4800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 bytecode compilation, low memory, fast cold start.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93024" y="37490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21624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21624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(strict)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21624" y="4800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mode; no implicit any; explicit data contracts.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Layered Context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1A36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109728" cy="777240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15544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modals, map view, alert banners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31720"/>
            <a:ext cx="182880" cy="137160"/>
          </a:xfrm>
          <a:prstGeom prst="rect">
            <a:avLst/>
          </a:prstGeom>
          <a:solidFill>
            <a:srgbClr val="2A335E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68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1A3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68880"/>
            <a:ext cx="109728" cy="777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688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Context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24688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state, haptics, persistent headers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46120"/>
            <a:ext cx="182880" cy="137160"/>
          </a:xfrm>
          <a:prstGeom prst="rect">
            <a:avLst/>
          </a:prstGeom>
          <a:solidFill>
            <a:srgbClr val="2A335E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83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1A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383280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383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Context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11880" y="33832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loop, distance math, destination state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160520"/>
            <a:ext cx="182880" cy="137160"/>
          </a:xfrm>
          <a:prstGeom prst="rect">
            <a:avLst/>
          </a:prstGeom>
          <a:solidFill>
            <a:srgbClr val="2A335E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97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1A3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97680"/>
            <a:ext cx="109728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97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11880" y="42976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verification, session, group membership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5074920"/>
            <a:ext cx="182880" cy="137160"/>
          </a:xfrm>
          <a:prstGeom prst="rect">
            <a:avLst/>
          </a:prstGeom>
          <a:solidFill>
            <a:srgbClr val="2A335E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212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1A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12080"/>
            <a:ext cx="109728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212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Storage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11880" y="52120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 — single source of truth (v1.0)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06840" y="1554480"/>
            <a:ext cx="2633472" cy="4709160"/>
          </a:xfrm>
          <a:prstGeom prst="roundRect">
            <a:avLst>
              <a:gd name="adj" fmla="val 3472"/>
            </a:avLst>
          </a:prstGeom>
          <a:solidFill>
            <a:srgbClr val="1B2147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20116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context owns its slice of state. Cross-context calls flow only downward through typed hooks — never via shared mutable singletons.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44000" y="42519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→ Alert → Tracking → Auth → Storage. Reads are reactive; writes are explicit and audited at the Async Storage boundary.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DATA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Data Schema (TypeScript Contracts)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141A36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2423160" cy="411480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AuthUser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2103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displayName: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deviceId: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groupIds: string[]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55448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141A3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554480"/>
            <a:ext cx="242316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554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2103120"/>
            <a:ext cx="2103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pinHash: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ownerId: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memberIds: string[]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155448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141A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554480"/>
            <a:ext cx="24231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554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103120"/>
            <a:ext cx="2103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groupId: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Role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GeoPoint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lastSeen: number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64040" y="155448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141A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1554480"/>
            <a:ext cx="242316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1554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46920" y="2103120"/>
            <a:ext cx="2103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groupId: string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geo: GeoPoint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radius: number (m)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window: TransitWindow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7180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1540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1B2147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AuthUser ▶ joins many Groups · Group ▶ contains many Persons · Group ▶ owns many Destinations · Person ▶ tracked against active Destination via Haversine distance and TransitWindow.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Location Tracking Engine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LOOP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  /  10 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Interval-based hardware polling. Sample every 5 seconds OR whenever device displacement exceeds 10 meters, whichever fires first.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023360"/>
            <a:ext cx="320040" cy="320040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4023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GPS fix (high accuracy)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526280"/>
            <a:ext cx="320040" cy="320040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4526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 to active destination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029200"/>
            <a:ext cx="320040" cy="320040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5029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Tracking Context (debounced)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532120"/>
            <a:ext cx="320040" cy="320040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532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5532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escalation thresholds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5352" y="155448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HAVERSINE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Great-circle distance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73952" y="251460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0B1020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6060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E7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sin²(Δφ/2) + cos φ₁ · cos φ₂ · sin²(Δλ/2)
</a:t>
            </a:r>
            <a:pPr indent="0" marL="0">
              <a:buNone/>
            </a:pPr>
            <a:r>
              <a:rPr lang="en-US" sz="1200" dirty="0">
                <a:solidFill>
                  <a:srgbClr val="6EE7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2 · atan2( √a, √(1−a) )
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R · c     // R = 6,371,000 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73952" y="4114800"/>
            <a:ext cx="1645920" cy="365760"/>
          </a:xfrm>
          <a:prstGeom prst="rect">
            <a:avLst/>
          </a:prstGeom>
          <a:solidFill>
            <a:srgbClr val="1B2147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4114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83880" y="4114800"/>
            <a:ext cx="1463040" cy="365760"/>
          </a:xfrm>
          <a:prstGeom prst="rect">
            <a:avLst/>
          </a:prstGeom>
          <a:solidFill>
            <a:srgbClr val="1B2147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4114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92640" y="4114800"/>
            <a:ext cx="1691640" cy="365760"/>
          </a:xfrm>
          <a:prstGeom prst="rect">
            <a:avLst/>
          </a:prstGeom>
          <a:solidFill>
            <a:srgbClr val="1B2147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0" y="41148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73952" y="4480560"/>
            <a:ext cx="1645920" cy="411480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4480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φ₁, λ₁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83880" y="4480560"/>
            <a:ext cx="1463040" cy="411480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4480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92640" y="4480560"/>
            <a:ext cx="1691640" cy="411480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0" y="44805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73952" y="4892040"/>
            <a:ext cx="1645920" cy="411480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4892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φ₂, λ₂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83880" y="4892040"/>
            <a:ext cx="1463040" cy="411480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4892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692640" y="4892040"/>
            <a:ext cx="1691640" cy="411480"/>
          </a:xfrm>
          <a:prstGeom prst="rect">
            <a:avLst/>
          </a:prstGeom>
          <a:solidFill>
            <a:srgbClr val="0B1020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84080" y="48920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73952" y="5303520"/>
            <a:ext cx="1645920" cy="411480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5303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83880" y="5303520"/>
            <a:ext cx="1463040" cy="411480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5320" y="5303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692640" y="5303520"/>
            <a:ext cx="1691640" cy="411480"/>
          </a:xfrm>
          <a:prstGeom prst="rect">
            <a:avLst/>
          </a:prstGeom>
          <a:solidFill>
            <a:srgbClr val="141A36"/>
          </a:solidFill>
          <a:ln w="6350">
            <a:solidFill>
              <a:srgbClr val="2A33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84080" y="5303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SAFETY LOGIC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Escalation Matrix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a tracked actor exceeds their transit window. Levels are strictly ordered and cumulative.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657600" cy="4251960"/>
          </a:xfrm>
          <a:prstGeom prst="roundRect">
            <a:avLst>
              <a:gd name="adj" fmla="val 3000"/>
            </a:avLst>
          </a:prstGeom>
          <a:solidFill>
            <a:srgbClr val="141A36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65960"/>
            <a:ext cx="36576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·  NOTICE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 → +5 min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3520440"/>
            <a:ext cx="3200400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haptic pulse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banner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Group-private notification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0832" y="1965960"/>
            <a:ext cx="3657600" cy="4251960"/>
          </a:xfrm>
          <a:prstGeom prst="roundRect">
            <a:avLst>
              <a:gd name="adj" fmla="val 3000"/>
            </a:avLst>
          </a:prstGeom>
          <a:solidFill>
            <a:srgbClr val="141A36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1965960"/>
            <a:ext cx="3657600" cy="502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·  ALERT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9432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9432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→ +15 min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99432" y="3520440"/>
            <a:ext cx="3200400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45152" y="393192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haptics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screen header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&amp; deputies notified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93024" y="1965960"/>
            <a:ext cx="3657600" cy="4251960"/>
          </a:xfrm>
          <a:prstGeom prst="roundRect">
            <a:avLst>
              <a:gd name="adj" fmla="val 3000"/>
            </a:avLst>
          </a:prstGeom>
          <a:solidFill>
            <a:srgbClr val="141A36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3024" y="1965960"/>
            <a:ext cx="36576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·  EMERGENCY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1624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21624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min or no GPS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421624" y="3520440"/>
            <a:ext cx="3200400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21624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67344" y="393192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auto-dial hook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alert state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group + emergency contact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Optimizations &amp; Web Adaptation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148840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7190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2176272"/>
            <a:ext cx="5120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 / useMemo gate every prop that crosses Context boundaries — eliminates spurious re-renders on the tracking loop.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15544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554480"/>
            <a:ext cx="73152" cy="2148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7190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Virtualized Lists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5664" y="2176272"/>
            <a:ext cx="5120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FlashList for group rosters and event feeds. Constant memory regardless of group size, with sticky headers for state changes.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8620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050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Web Resolver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4507992"/>
            <a:ext cx="5120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Metro bundler resolver injects polyfills for native-only modules so the web build ships from a single source tree.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388620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41A36"/>
          </a:solidFill>
          <a:ln w="9525">
            <a:solidFill>
              <a:srgbClr val="2A33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3886200"/>
            <a:ext cx="73152" cy="2148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4050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AOT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55664" y="4507992"/>
            <a:ext cx="5120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Ahead-of-time bytecode keeps cold start fast and reduces sustained JS memory under heavy polling.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BENCHMARKS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— Physical Device Profiling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141A36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BOOT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pPr indent="0" marL="0">
              <a:buNone/>
            </a:pPr>
            <a:r>
              <a:rPr lang="en-US" sz="24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Hermes-compiled bundle, mid-range Android.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55448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141A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5152" y="2103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fps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4645152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during active tracking + map render.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93024" y="155448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141A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67344" y="2103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%/hr</a:t>
            </a:r>
            <a:endParaRPr lang="en-US" sz="9600" dirty="0"/>
          </a:p>
        </p:txBody>
      </p:sp>
      <p:sp>
        <p:nvSpPr>
          <p:cNvPr id="19" name="Text 17"/>
          <p:cNvSpPr/>
          <p:nvPr/>
        </p:nvSpPr>
        <p:spPr>
          <a:xfrm>
            <a:off x="8467344" y="3840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polling, screen off, GPS active.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B2147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41324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Pixel 7 + iPhone 13 over a 4-hour controlled drive with active group of 12 actors. Cold boot averaged across 25 launches; battery draw normalized to 100% display brightness off.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Next Steps — v2.0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 ·  Technical Whitepaper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Device-local storage only — no cross-device continuity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tracking only — OS may throttle when backgrounded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— no anomaly detection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45352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ENGINEERING PLAN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45352" y="17830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83080"/>
            <a:ext cx="73152" cy="1371600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659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Sync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state, multi-device sessions, persistent group history.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3291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5352" y="3291840"/>
            <a:ext cx="73152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47472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expo-task-manager Routines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93192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background tracking with OS-level scheduling guarantees.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5352" y="48006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41A36"/>
          </a:solidFill>
          <a:ln w="12700">
            <a:solidFill>
              <a:srgbClr val="2A33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480060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9834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Route-Deviation Checks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544068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to flag anomalous deviations vs. historical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7315200" cy="7315200"/>
          </a:xfrm>
          <a:prstGeom prst="ellipse">
            <a:avLst/>
          </a:prstGeom>
          <a:solidFill>
            <a:srgbClr val="6EE7F9">
              <a:alpha val="10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E7F9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maturity, shipped.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SafeTrack v1.0 is a deterministic, mobile-first safety layer for micro-groups — built on a strict TypeScript core, a high-frequency tracking engine, and an explicit three-level escalation matrix.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141A36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44988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screen. One decision.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393192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141A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44988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Offline-first, deterministic.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393192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141A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44988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under stress.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669280"/>
            <a:ext cx="10725912" cy="0"/>
          </a:xfrm>
          <a:prstGeom prst="line">
            <a:avLst/>
          </a:prstGeom>
          <a:noFill/>
          <a:ln w="9525">
            <a:solidFill>
              <a:srgbClr val="2A33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technical discussion · inquiries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24160" y="5806440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SafeTrack Technical Overview</dc:title>
  <dc:subject>PptxGenJS Presentation</dc:subject>
  <dc:creator>PptxGenJS</dc:creator>
  <cp:lastModifiedBy>PptxGenJS</cp:lastModifiedBy>
  <cp:revision>1</cp:revision>
  <dcterms:created xsi:type="dcterms:W3CDTF">2026-05-25T17:16:39Z</dcterms:created>
  <dcterms:modified xsi:type="dcterms:W3CDTF">2026-05-25T17:16:39Z</dcterms:modified>
</cp:coreProperties>
</file>